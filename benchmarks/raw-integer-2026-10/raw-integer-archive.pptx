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500f1a90be490d" /><Relationship Type="http://schemas.openxmlformats.org/officeDocument/2006/relationships/extended-properties" Target="/docProps/app.xml" Id="R9e026800b47f49cb" /><Relationship Type="http://schemas.openxmlformats.org/officeDocument/2006/relationships/officeDocument" Target="/ppt/presentation.xml" Id="R1ab9c77bae3d43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03588d545d4a9a"/>
  </p:sldMasterIdLst>
  <p:notesMasterIdLst>
    <p:notesMasterId xmlns:r="http://schemas.openxmlformats.org/officeDocument/2006/relationships" r:id="R7429dbff3f08410c"/>
  </p:notesMasterIdLst>
  <p:sldIdLst>
    <p:sldId xmlns:r="http://schemas.openxmlformats.org/officeDocument/2006/relationships" id="256" r:id="R9bc2734b82b9497d"/>
    <p:sldId xmlns:r="http://schemas.openxmlformats.org/officeDocument/2006/relationships" id="257" r:id="R7411fede729144f3"/>
    <p:sldId xmlns:r="http://schemas.openxmlformats.org/officeDocument/2006/relationships" id="258" r:id="R5a04e83caad04e8b"/>
    <p:sldId xmlns:r="http://schemas.openxmlformats.org/officeDocument/2006/relationships" id="259" r:id="R701a5ff0da944f72"/>
    <p:sldId xmlns:r="http://schemas.openxmlformats.org/officeDocument/2006/relationships" id="260" r:id="Ree9ccc72bdd1410b"/>
    <p:sldId xmlns:r="http://schemas.openxmlformats.org/officeDocument/2006/relationships" id="261" r:id="R9c3896ace2954e81"/>
    <p:sldId xmlns:r="http://schemas.openxmlformats.org/officeDocument/2006/relationships" id="262" r:id="R835627e231434ce7"/>
    <p:sldId xmlns:r="http://schemas.openxmlformats.org/officeDocument/2006/relationships" id="263" r:id="Rf6a1407ce181425b"/>
    <p:sldId xmlns:r="http://schemas.openxmlformats.org/officeDocument/2006/relationships" id="264" r:id="Rfff8f3c6bbea45a2"/>
    <p:sldId xmlns:r="http://schemas.openxmlformats.org/officeDocument/2006/relationships" id="265" r:id="R8eb0874681794841"/>
    <p:sldId xmlns:r="http://schemas.openxmlformats.org/officeDocument/2006/relationships" id="266" r:id="R874b59aec9cd4ec4"/>
    <p:sldId xmlns:r="http://schemas.openxmlformats.org/officeDocument/2006/relationships" id="267" r:id="R342c4c32520446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b5e817a9814894" /><Relationship Type="http://schemas.openxmlformats.org/officeDocument/2006/relationships/slideMaster" Target="/ppt/slideMasters/slideMaster1.xml" Id="Rba03588d545d4a9a" /><Relationship Type="http://schemas.openxmlformats.org/officeDocument/2006/relationships/notesMaster" Target="/ppt/notesMasters/notesMaster1.xml" Id="R7429dbff3f08410c" /><Relationship Type="http://schemas.openxmlformats.org/officeDocument/2006/relationships/presProps" Target="/ppt/presProps.xml" Id="R8fd375d9e4144a48" /><Relationship Type="http://schemas.openxmlformats.org/officeDocument/2006/relationships/tableStyles" Target="/ppt/tableStyles.xml" Id="Rcb07af67bc1d4c8d" /><Relationship Type="http://schemas.openxmlformats.org/officeDocument/2006/relationships/slide" Target="/ppt/slides/slide1.xml" Id="R9bc2734b82b9497d" /><Relationship Type="http://schemas.openxmlformats.org/officeDocument/2006/relationships/slide" Target="/ppt/slides/slide2.xml" Id="R7411fede729144f3" /><Relationship Type="http://schemas.openxmlformats.org/officeDocument/2006/relationships/slide" Target="/ppt/slides/slide3.xml" Id="R5a04e83caad04e8b" /><Relationship Type="http://schemas.openxmlformats.org/officeDocument/2006/relationships/slide" Target="/ppt/slides/slide4.xml" Id="R701a5ff0da944f72" /><Relationship Type="http://schemas.openxmlformats.org/officeDocument/2006/relationships/slide" Target="/ppt/slides/slide5.xml" Id="Ree9ccc72bdd1410b" /><Relationship Type="http://schemas.openxmlformats.org/officeDocument/2006/relationships/slide" Target="/ppt/slides/slide6.xml" Id="R9c3896ace2954e81" /><Relationship Type="http://schemas.openxmlformats.org/officeDocument/2006/relationships/slide" Target="/ppt/slides/slide7.xml" Id="R835627e231434ce7" /><Relationship Type="http://schemas.openxmlformats.org/officeDocument/2006/relationships/slide" Target="/ppt/slides/slide8.xml" Id="Rf6a1407ce181425b" /><Relationship Type="http://schemas.openxmlformats.org/officeDocument/2006/relationships/slide" Target="/ppt/slides/slide9.xml" Id="Rfff8f3c6bbea45a2" /><Relationship Type="http://schemas.openxmlformats.org/officeDocument/2006/relationships/slide" Target="/ppt/slides/slide10.xml" Id="R8eb0874681794841" /><Relationship Type="http://schemas.openxmlformats.org/officeDocument/2006/relationships/slide" Target="/ppt/slides/slide11.xml" Id="R874b59aec9cd4ec4" /><Relationship Type="http://schemas.openxmlformats.org/officeDocument/2006/relationships/slide" Target="/ppt/slides/slide12.xml" Id="R342c4c32520446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e7f693b53e46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5e1fbdc5064ff5" /><Relationship Type="http://schemas.openxmlformats.org/officeDocument/2006/relationships/notesMaster" Target="/ppt/notesMasters/notesMaster1.xml" Id="R990c2aa016e549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a3e6808efd4d91" /><Relationship Type="http://schemas.openxmlformats.org/officeDocument/2006/relationships/notesMaster" Target="/ppt/notesMasters/notesMaster1.xml" Id="R403bebe34ecb4b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47cc79909748b2" /><Relationship Type="http://schemas.openxmlformats.org/officeDocument/2006/relationships/notesMaster" Target="/ppt/notesMasters/notesMaster1.xml" Id="R8379820fa0264d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50a10591e44f74" /><Relationship Type="http://schemas.openxmlformats.org/officeDocument/2006/relationships/notesMaster" Target="/ppt/notesMasters/notesMaster1.xml" Id="R790e737af72147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3f6b6382754d18" /><Relationship Type="http://schemas.openxmlformats.org/officeDocument/2006/relationships/notesMaster" Target="/ppt/notesMasters/notesMaster1.xml" Id="R0084f787cf3644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fb03c102724013" /><Relationship Type="http://schemas.openxmlformats.org/officeDocument/2006/relationships/notesMaster" Target="/ppt/notesMasters/notesMaster1.xml" Id="R0b96369912504c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4eb8bf149d4d91" /><Relationship Type="http://schemas.openxmlformats.org/officeDocument/2006/relationships/notesMaster" Target="/ppt/notesMasters/notesMaster1.xml" Id="R65582f0ff2b84b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f654018bc544e5" /><Relationship Type="http://schemas.openxmlformats.org/officeDocument/2006/relationships/notesMaster" Target="/ppt/notesMasters/notesMaster1.xml" Id="R0cf0e4d12bab44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e0701bf2ca42fb" /><Relationship Type="http://schemas.openxmlformats.org/officeDocument/2006/relationships/notesMaster" Target="/ppt/notesMasters/notesMaster1.xml" Id="R18f20ed0e47847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692f1abfc94214" /><Relationship Type="http://schemas.openxmlformats.org/officeDocument/2006/relationships/notesMaster" Target="/ppt/notesMasters/notesMaster1.xml" Id="R0071621d056c43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0616af9eea4cff" /><Relationship Type="http://schemas.openxmlformats.org/officeDocument/2006/relationships/notesMaster" Target="/ppt/notesMasters/notesMaster1.xml" Id="Rb65651d15fb64f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77a57a20f84b09" /><Relationship Type="http://schemas.openxmlformats.org/officeDocument/2006/relationships/notesMaster" Target="/ppt/notesMasters/notesMaster1.xml" Id="R3c0d10bdbf4c4e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research presentation. Experimental archive, not an official mzPeak file. Full report: docs/WRITEUP.md. Background: https://doi.org/10.1021/acs.jproteome.5c00435 and https://hupo-psi.github.io/mzPeak-specification/. No endorsement or format-conformance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evidence: native-validation/readers-three/*.json and summary.json. Derived public table: publication/evidence/conversion-results.json. Conversion baseline: HUPO-PSI/mzPeak commit 40c65521dcfdc3d1df22c16f1ef18e6013fc6ef6. rawr-ms: 2a0422f6a407aa66bb8146f636a5451eae0966ef.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evidence: native-validation/readers-three/*.json and summary.json. Derived public table: publication/evidence/conversion-results.json. Conversion baseline: HUPO-PSI/mzPeak commit 40c65521dcfdc3d1df22c16f1ef18e6013fc6ef6. rawr-ms: 2a0422f6a407aa66bb8146f636a5451eae0966ef. Protocol amendment: native-validation/readers-three/protocol-amendment.json. Inventory and input selection: campaign-plan.json.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evidence: native-validation/readers-three/*.json and summary.json. Derived public table: publication/evidence/conversion-results.json. Conversion baseline: HUPO-PSI/mzPeak commit 40c65521dcfdc3d1df22c16f1ef18e6013fc6ef6. rawr-ms: 2a0422f6a407aa66bb8146f636a5451eae0966ef. Codec implementation: code/fast_raw/src/main.rs. Metadata and ZIP assembly: code/complete_raw.py. Numerical compression prior art: https://pmc.ncbi.nlm.nih.gov/articles/PMC4047472/.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Exact-arithmetic derivations and floating-point qualification: docs/WRITEUP.md, Error bounds from the quantizers. The implementation checks reconstructed values and integer roundtrips; independent vendor validation enforces total bounds.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evidence: native-validation/readers-three/*.json and summary.json. Derived public table: publication/evidence/conversion-results.json. Conversion baseline: HUPO-PSI/mzPeak commit 40c65521dcfdc3d1df22c16f1ef18e6013fc6ef6. rawr-ms: 2a0422f6a407aa66bb8146f636a5451eae0966ef. Chart uses the ten files eligible for all three modes; all eleven native comparisons are in the report. Values are paired per-file geometric means, not ratios of displayed medians.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evidence: native-validation/readers-three/*.json and summary.json. Derived public table: publication/evidence/conversion-results.json. Conversion baseline: HUPO-PSI/mzPeak commit 40c65521dcfdc3d1df22c16f1ef18e6013fc6ef6. rawr-ms: 2a0422f6a407aa66bb8146f636a5451eae0966ef. Native and vendor archive sizes differ only slightly on these examples. All zeros are retained in the custom archive; official default can omit interior zero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evidence: native-validation/readers-three/*.json and summary.json. Derived public table: publication/evidence/conversion-results.json. Conversion baseline: HUPO-PSI/mzPeak commit 40c65521dcfdc3d1df22c16f1ef18e6013fc6ef6. rawr-ms: 2a0422f6a407aa66bb8146f636a5451eae0966ef. RAM is median sampled summed process-tree RSS, sampled every 50 ms. Shared pages can be counted twice; brief peaks can be missed. GNU time max-process RSS is separately reported.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publication/evidence/astral-fidelity.json and native-validation/astral-fidelity/fidelity.json. Saved native archive checked against every source value from Thermo. Percentiles use bounded histogram intervals, not samples.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native-validation/astral-queries/query-open.json. Seven randomized fresh-process repeats; one native and Arrow worker; warm filesystem; no persistent index or signal cache. XIC: 494 scans, RT20–25 min, m/z524.3 ±5ppm. MS2 batch:50,208 spectra in the same RT window. Selected values independently validated.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evidence: native-validation/readers-three/*.json and summary.json. Derived public table: publication/evidence/conversion-results.json. Conversion baseline: HUPO-PSI/mzPeak commit 40c65521dcfdc3d1df22c16f1ef18e6013fc6ef6. rawr-ms: 2a0422f6a407aa66bb8146f636a5451eae0966ef. Failure logs: 10-PXD063416/vendor-3.log; 11-PXD046453/*-0.log;12-PXD049028/*-0.log. A retained valid output does not qualify a mode when a required repeat fails.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evidence: native-validation/readers-three/*.json and summary.json. Derived public table: publication/evidence/conversion-results.json. Conversion baseline: HUPO-PSI/mzPeak commit 40c65521dcfdc3d1df22c16f1ef18e6013fc6ef6. rawr-ms: 2a0422f6a407aa66bb8146f636a5451eae0966ef. Full limitations and references: docs/WRITEUP.md. The archive is not official mzPeak; no universal reader, SQL, peptide identification or downstream quantification equivalence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232445067b4c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63e6663d042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1f163c46d9447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2fe0b2a29842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6fe7cfcaae47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f4c7ace09b4b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335254-042D-4761-A1F7-8310E78A96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7398028-BDA4-442B-BED6-41C2D1B519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F2D1A78-CBF6-4811-A32C-54D2931760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2A9606-B4E5-47A3-9A94-4C6046EBA1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241C152-0A2F-46EB-A7E9-B3919A4B3D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2345507-939A-44C4-ACA4-4EB5328CE5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D924A4-1611-4D79-B268-98C2BBC725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419FCAE-7FC2-4999-BEF4-409D4FB0810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CC1D30-AE5B-4046-8196-2B2CC9D60D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04CF9B-697C-4EC5-A69F-2C6D97E850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15ea68ac374779" /><Relationship Type="http://schemas.openxmlformats.org/officeDocument/2006/relationships/slideLayout" Target="/ppt/slideLayouts/slideLayout1.xml" Id="R23c1d4f2dbd84ae0" /><Relationship Type="http://schemas.openxmlformats.org/officeDocument/2006/relationships/slideLayout" Target="/ppt/slideLayouts/slideLayout2.xml" Id="Rd73f020dff814964" /><Relationship Type="http://schemas.openxmlformats.org/officeDocument/2006/relationships/slideLayout" Target="/ppt/slideLayouts/slideLayout3.xml" Id="Ra3097075e0d54b7e" /><Relationship Type="http://schemas.openxmlformats.org/officeDocument/2006/relationships/slideLayout" Target="/ppt/slideLayouts/slideLayout4.xml" Id="R64c26e04d31943c3" /><Relationship Type="http://schemas.openxmlformats.org/officeDocument/2006/relationships/slideLayout" Target="/ppt/slideLayouts/slideLayout5.xml" Id="R9d03e450ee4f4ce1" /><Relationship Type="http://schemas.openxmlformats.org/officeDocument/2006/relationships/slideLayout" Target="/ppt/slideLayouts/slideLayout6.xml" Id="Read4df69fd2245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c1d4f2dbd84ae0"/>
    <p:sldLayoutId xmlns:r="http://schemas.openxmlformats.org/officeDocument/2006/relationships" id="2147483650" r:id="Rd73f020dff814964"/>
    <p:sldLayoutId xmlns:r="http://schemas.openxmlformats.org/officeDocument/2006/relationships" id="2147483651" r:id="Ra3097075e0d54b7e"/>
    <p:sldLayoutId xmlns:r="http://schemas.openxmlformats.org/officeDocument/2006/relationships" id="2147483652" r:id="R64c26e04d31943c3"/>
    <p:sldLayoutId xmlns:r="http://schemas.openxmlformats.org/officeDocument/2006/relationships" id="2147483653" r:id="R9d03e450ee4f4ce1"/>
    <p:sldLayoutId xmlns:r="http://schemas.openxmlformats.org/officeDocument/2006/relationships" id="2147483654" r:id="Read4df69fd2245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c02174f3a748cf" /><Relationship Type="http://schemas.openxmlformats.org/officeDocument/2006/relationships/notesSlide" Target="/ppt/notesSlides/notesSlide1.xml" Id="R96cca5ccfdb54d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46702340e5408a" /><Relationship Type="http://schemas.openxmlformats.org/officeDocument/2006/relationships/notesSlide" Target="/ppt/notesSlides/notesSlide2.xml" Id="R08c7ae5104654d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8edaf656db4c8d" /><Relationship Type="http://schemas.openxmlformats.org/officeDocument/2006/relationships/notesSlide" Target="/ppt/notesSlides/notesSlide3.xml" Id="R66befd1e7f234f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2b8263270f4de3" /><Relationship Type="http://schemas.openxmlformats.org/officeDocument/2006/relationships/notesSlide" Target="/ppt/notesSlides/notesSlide4.xml" Id="Ref202421696f41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1fa3fb7c414e73" /><Relationship Type="http://schemas.openxmlformats.org/officeDocument/2006/relationships/notesSlide" Target="/ppt/notesSlides/notesSlide5.xml" Id="R06c40a2fd48441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a5b5d1b71b4445" /><Relationship Type="http://schemas.openxmlformats.org/officeDocument/2006/relationships/chart" Target="/ppt/slides/charts/chart1.xml" Id="R69c259c65ca94712" /><Relationship Type="http://schemas.openxmlformats.org/officeDocument/2006/relationships/notesSlide" Target="/ppt/notesSlides/notesSlide6.xml" Id="Re4e5dc81d5a840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df374049e74076" /><Relationship Type="http://schemas.openxmlformats.org/officeDocument/2006/relationships/chart" Target="/ppt/slides/charts/chart2.xml" Id="Re4a1cb757f0f4e21" /><Relationship Type="http://schemas.openxmlformats.org/officeDocument/2006/relationships/notesSlide" Target="/ppt/notesSlides/notesSlide7.xml" Id="R3aa01796958147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47f98e1ee349af" /><Relationship Type="http://schemas.openxmlformats.org/officeDocument/2006/relationships/chart" Target="/ppt/slides/charts/chart3.xml" Id="Rad005cab10ea4368" /><Relationship Type="http://schemas.openxmlformats.org/officeDocument/2006/relationships/notesSlide" Target="/ppt/notesSlides/notesSlide8.xml" Id="R2bb31ff8db0348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aa581b555b4f9f" /><Relationship Type="http://schemas.openxmlformats.org/officeDocument/2006/relationships/notesSlide" Target="/ppt/notesSlides/notesSlide9.xml" Id="R4c66f4f3c0b542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6bd490d42c4327" /><Relationship Type="http://schemas.openxmlformats.org/officeDocument/2006/relationships/notesSlide" Target="/ppt/notesSlides/notesSlide10.xml" Id="Rfb57f6c1a70547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36c690b62341fc" /><Relationship Type="http://schemas.openxmlformats.org/officeDocument/2006/relationships/notesSlide" Target="/ppt/notesSlides/notesSlide11.xml" Id="R2c2669f738fc4c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273a37c3fe427b" /><Relationship Type="http://schemas.openxmlformats.org/officeDocument/2006/relationships/notesSlide" Target="/ppt/notesSlides/notesSlide12.xml" Id="R126a6e2c7f25412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Native</c:v>
          </c:tx>
          <c:spPr>
            <a:solidFill xmlns:a="http://schemas.openxmlformats.org/drawingml/2006/main">
              <a:srgbClr val="007F7B"/>
            </a:solidFill>
          </c:spPr>
          <c:invertIfNegative val="0"/>
          <c:cat>
            <c:strRef>
              <c:f>'Chart Data'!$A$2:$A$11</c:f>
              <c:strCache>
                <c:ptCount val="10"/>
                <c:pt idx="0">
                  <c:v>HeLa</c:v>
                </c:pt>
                <c:pt idx="1">
                  <c:v>Fusion</c:v>
                </c:pt>
                <c:pt idx="2">
                  <c:v>Eclipse</c:v>
                </c:pt>
                <c:pt idx="3">
                  <c:v>Ascend</c:v>
                </c:pt>
                <c:pt idx="4">
                  <c:v>HF</c:v>
                </c:pt>
                <c:pt idx="5">
                  <c:v>Lumos</c:v>
                </c:pt>
                <c:pt idx="6">
                  <c:v>Velos</c:v>
                </c:pt>
                <c:pt idx="7">
                  <c:v>HF-X</c:v>
                </c:pt>
                <c:pt idx="8">
                  <c:v>QE</c:v>
                </c:pt>
                <c:pt idx="9">
                  <c:v>QE+</c:v>
                </c:pt>
              </c:strCache>
            </c:str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4.12052</c:v>
                </c:pt>
                <c:pt idx="1">
                  <c:v>5.154731</c:v>
                </c:pt>
                <c:pt idx="2">
                  <c:v>5.380586</c:v>
                </c:pt>
                <c:pt idx="3">
                  <c:v>3.943424</c:v>
                </c:pt>
                <c:pt idx="4">
                  <c:v>4.037735</c:v>
                </c:pt>
                <c:pt idx="5">
                  <c:v>4.532484</c:v>
                </c:pt>
                <c:pt idx="6">
                  <c:v>5.845166</c:v>
                </c:pt>
                <c:pt idx="7">
                  <c:v>5.657819</c:v>
                </c:pt>
                <c:pt idx="8">
                  <c:v>4.463642</c:v>
                </c:pt>
                <c:pt idx="9">
                  <c:v>4.302943</c:v>
                </c:pt>
              </c:numCache>
            </c:numRef>
          </c:val>
        </c:ser>
        <c:ser>
          <c:idx val="1"/>
          <c:order val="1"/>
          <c:tx>
            <c:v>Vendor</c:v>
          </c:tx>
          <c:spPr>
            <a:solidFill xmlns:a="http://schemas.openxmlformats.org/drawingml/2006/main">
              <a:srgbClr val="C2692C"/>
            </a:solidFill>
          </c:spPr>
          <c:invertIfNegative val="0"/>
          <c:cat>
            <c:strRef>
              <c:f>'Chart Data'!$C$2:$C$11</c:f>
              <c:strCache>
                <c:ptCount val="10"/>
                <c:pt idx="0">
                  <c:v>HeLa</c:v>
                </c:pt>
                <c:pt idx="1">
                  <c:v>Fusion</c:v>
                </c:pt>
                <c:pt idx="2">
                  <c:v>Eclipse</c:v>
                </c:pt>
                <c:pt idx="3">
                  <c:v>Ascend</c:v>
                </c:pt>
                <c:pt idx="4">
                  <c:v>HF</c:v>
                </c:pt>
                <c:pt idx="5">
                  <c:v>Lumos</c:v>
                </c:pt>
                <c:pt idx="6">
                  <c:v>Velos</c:v>
                </c:pt>
                <c:pt idx="7">
                  <c:v>HF-X</c:v>
                </c:pt>
                <c:pt idx="8">
                  <c:v>QE</c:v>
                </c:pt>
                <c:pt idx="9">
                  <c:v>QE+</c:v>
                </c:pt>
              </c:strCache>
            </c:strRef>
          </c:cat>
          <c:val>
            <c:numRef>
              <c:f>'Chart Data'!$D$2:$D$11</c:f>
              <c:numCache>
                <c:formatCode>General</c:formatCode>
                <c:ptCount val="10"/>
                <c:pt idx="0">
                  <c:v>1.773869</c:v>
                </c:pt>
                <c:pt idx="1">
                  <c:v>1.138423</c:v>
                </c:pt>
                <c:pt idx="2">
                  <c:v>0.880139</c:v>
                </c:pt>
                <c:pt idx="3">
                  <c:v>1.78885</c:v>
                </c:pt>
                <c:pt idx="4">
                  <c:v>1.716503</c:v>
                </c:pt>
                <c:pt idx="5">
                  <c:v>1.605777</c:v>
                </c:pt>
                <c:pt idx="6">
                  <c:v>2.848789</c:v>
                </c:pt>
                <c:pt idx="7">
                  <c:v>2.039486</c:v>
                </c:pt>
                <c:pt idx="8">
                  <c:v>2.398795</c:v>
                </c:pt>
                <c:pt idx="9">
                  <c:v>2.069639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4263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4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2636B"/>
                    </a:solidFill>
                    <a:latin typeface="Arial"/>
                    <a:ea typeface="Arial"/>
                    <a:cs typeface="Arial"/>
                  </a:rPr>
                  <a:t>Speedup versus official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2636B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8FAF9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42630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8FAF9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Official default</c:v>
          </c:tx>
          <c:spPr>
            <a:solidFill xmlns:a="http://schemas.openxmlformats.org/drawingml/2006/main">
              <a:srgbClr val="8C9AA2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HeLa</c:v>
                </c:pt>
                <c:pt idx="1">
                  <c:v>Fusion</c:v>
                </c:pt>
                <c:pt idx="2">
                  <c:v>Velos</c:v>
                </c:pt>
                <c:pt idx="3">
                  <c:v>QE Plus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v>Our archive + vendor</c:v>
          </c:tx>
          <c:spPr>
            <a:solidFill xmlns:a="http://schemas.openxmlformats.org/drawingml/2006/main">
              <a:srgbClr val="C2692C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HeLa</c:v>
                </c:pt>
                <c:pt idx="1">
                  <c:v>Fusion</c:v>
                </c:pt>
                <c:pt idx="2">
                  <c:v>Velos</c:v>
                </c:pt>
                <c:pt idx="3">
                  <c:v>QE Plus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22.264069</c:v>
                </c:pt>
                <c:pt idx="1">
                  <c:v>58.062942</c:v>
                </c:pt>
                <c:pt idx="2">
                  <c:v>24.240935</c:v>
                </c:pt>
                <c:pt idx="3">
                  <c:v>24.691175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4263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4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2636B"/>
                    </a:solidFill>
                    <a:latin typeface="Arial"/>
                    <a:ea typeface="Arial"/>
                    <a:cs typeface="Arial"/>
                  </a:rPr>
                  <a:t>Output size / official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2636B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8FAF9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42630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8FAF9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Native</c:v>
          </c:tx>
          <c:spPr>
            <a:solidFill xmlns:a="http://schemas.openxmlformats.org/drawingml/2006/main">
              <a:srgbClr val="007F7B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HeLa</c:v>
                </c:pt>
                <c:pt idx="1">
                  <c:v>Velos</c:v>
                </c:pt>
                <c:pt idx="2">
                  <c:v>QE Plus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1.644848</c:v>
                </c:pt>
                <c:pt idx="1">
                  <c:v>2.474159</c:v>
                </c:pt>
                <c:pt idx="2">
                  <c:v>5.252514</c:v>
                </c:pt>
              </c:numCache>
            </c:numRef>
          </c:val>
        </c:ser>
        <c:ser>
          <c:idx val="1"/>
          <c:order val="1"/>
          <c:tx>
            <c:v>Vendor</c:v>
          </c:tx>
          <c:spPr>
            <a:solidFill xmlns:a="http://schemas.openxmlformats.org/drawingml/2006/main">
              <a:srgbClr val="C2692C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HeLa</c:v>
                </c:pt>
                <c:pt idx="1">
                  <c:v>Velos</c:v>
                </c:pt>
                <c:pt idx="2">
                  <c:v>QE Plus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0.7402</c:v>
                </c:pt>
                <c:pt idx="1">
                  <c:v>0.480843</c:v>
                </c:pt>
                <c:pt idx="2">
                  <c:v>0.595318</c:v>
                </c:pt>
              </c:numCache>
            </c:numRef>
          </c:val>
        </c:ser>
        <c:ser>
          <c:idx val="2"/>
          <c:order val="2"/>
          <c:tx>
            <c:v>Official</c:v>
          </c:tx>
          <c:spPr>
            <a:solidFill xmlns:a="http://schemas.openxmlformats.org/drawingml/2006/main">
              <a:srgbClr val="8C9AA2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HeLa</c:v>
                </c:pt>
                <c:pt idx="1">
                  <c:v>Velos</c:v>
                </c:pt>
                <c:pt idx="2">
                  <c:v>QE Plus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1.243313</c:v>
                </c:pt>
                <c:pt idx="1">
                  <c:v>1.036354</c:v>
                </c:pt>
                <c:pt idx="2">
                  <c:v>0.887009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4263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4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2636B"/>
                    </a:solidFill>
                    <a:latin typeface="Arial"/>
                    <a:ea typeface="Arial"/>
                    <a:cs typeface="Arial"/>
                  </a:rPr>
                  <a:t>Sampled tree RSS (GiB)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2636B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8FAF9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42630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8FAF9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6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6ED33-DF5D-4A56-957D-E64CE413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Bounded-error integer storage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Thermo RAW spectra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CD9E2-6F5B-4233-AB8E-BCF67926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A9D8D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A9D8D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A9D8D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A9D8D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A9D8D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A9D8D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A9D8D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A9D8D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A9D8D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A9D8D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A9D8D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9D8D3"/>
                </a:solidFill>
                <a:latin typeface="Arial"/>
                <a:ea typeface="Arial"/>
                <a:cs typeface="Arial"/>
              </a:rPr>
              <a:t>Direct conversion · native and vendor input paths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2FDC7-2AC2-45E6-BFD7-E8609E54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CAD5D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CAD5D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CAD5D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CAD5D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CAD5D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CAD5D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CAD5D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CAD5D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CAD5D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CAD5D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CAD5D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AD5D8"/>
                </a:solidFill>
                <a:latin typeface="Arial"/>
                <a:ea typeface="Arial"/>
                <a:cs typeface="Arial"/>
              </a:rPr>
              <a:t>13 RAW files · 49.48 GB · 21 October 2026</a:t>
            </a:r>
          </a:p>
        </p:txBody>
      </p:sp>
    </p:spTree>
    <p:extLst>
      <p:ext uri="{BB962C8B-B14F-4D97-AF65-F5344CB8AC3E}">
        <p14:creationId xmlns:p14="http://schemas.microsoft.com/office/powerpoint/2010/main" val="6591449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A00BA-4DD9-4890-B646-09685E16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630"/>
                </a:solidFill>
                <a:latin typeface="Arial"/>
                <a:ea typeface="Arial"/>
                <a:cs typeface="Arial"/>
              </a:rPr>
              <a:t>Compact storage, with different reader tradeoffs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19076-5A2E-4B1A-836D-DD4D3E348FE3}"/>
              </a:ext>
            </a:extLst>
          </p:cNvPr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3057525"/>
                <a:gridCol w="3057525"/>
              </a:tblGrid>
              <a:tr h="6953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Against official default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4"/>
                      </a:solidFill>
                      <a:prstDash val="solid"/>
                    </a:lnL>
                    <a:lnR w="9525">
                      <a:solidFill>
                        <a:srgbClr val="DCE4E4"/>
                      </a:solidFill>
                      <a:prstDash val="solid"/>
                    </a:lnR>
                    <a:lnT w="9525">
                      <a:solidFill>
                        <a:srgbClr val="DCE4E4"/>
                      </a:solidFill>
                      <a:prstDash val="solid"/>
                    </a:lnT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142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Native rawr-ms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T w="9525">
                      <a:solidFill>
                        <a:srgbClr val="DCE4E4"/>
                      </a:solidFill>
                      <a:prstDash val="solid"/>
                    </a:lnT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142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Thermo reader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T w="9525">
                      <a:solidFill>
                        <a:srgbClr val="DCE4E4"/>
                      </a:solidFill>
                      <a:prstDash val="solid"/>
                    </a:lnT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142630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Eligible comparisons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4"/>
                      </a:solidFill>
                      <a:prstDash val="solid"/>
                    </a:lnL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11 / 13 files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10 / 13 files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Geometric-mean speedup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4"/>
                      </a:solidFill>
                      <a:prstDash val="solid"/>
                    </a:lnL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4.74×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1.74×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Aggregate output reduction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4"/>
                      </a:solidFill>
                      <a:prstDash val="solid"/>
                    </a:lnL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73.14%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74.43%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Relative sampled tree RSS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4"/>
                      </a:solidFill>
                      <a:prstDash val="solid"/>
                    </a:lnL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1.72× official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0.71× official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AC672-8845-454D-9D9C-F25FB879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Bounded-loss output versus exact retained values. Eligible sets differ; failed comparisons are excluded from ratios.</a:t>
            </a:r>
          </a:p>
        </p:txBody>
      </p:sp>
    </p:spTree>
    <p:extLst>
      <p:ext uri="{BB962C8B-B14F-4D97-AF65-F5344CB8AC3E}">
        <p14:creationId xmlns:p14="http://schemas.microsoft.com/office/powerpoint/2010/main" val="13753904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BD0FD-D9EF-4A7C-9283-F6BEF75A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630"/>
                </a:solidFill>
                <a:latin typeface="Arial"/>
                <a:ea typeface="Arial"/>
                <a:cs typeface="Arial"/>
              </a:rPr>
              <a:t>Benchmark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5F30A-B83E-4630-B73B-2634EEC6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49.48 GB across 13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BC227-F80C-4BE3-95E9-B40FE7C6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630"/>
                </a:solidFill>
                <a:latin typeface="Arial"/>
                <a:ea typeface="Arial"/>
                <a:cs typeface="Arial"/>
              </a:rPr>
              <a:t>Selected from 334 files / 548.43 GB using dataset, instrument and size coverage before timing.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1D58B-9D1C-4E39-B9D5-2F8C9582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630"/>
                </a:solidFill>
                <a:latin typeface="Arial"/>
                <a:ea typeface="Arial"/>
                <a:cs typeface="Arial"/>
              </a:rPr>
              <a:t>Eight CPUs · 64 GiB allocation · warm filesystem cache</a:t>
            </a:r>
          </a:p>
          <a:p xmlns:a="http://schemas.openxmlformats.org/drawingml/2006/main">
            <a: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630"/>
                </a:solidFill>
                <a:latin typeface="Arial"/>
                <a:ea typeface="Arial"/>
                <a:cs typeface="Arial"/>
              </a:rPr>
              <a:t>Direct RAW input · Zstd level 3 · 600 s conversion timeout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0E279-2CF1-4663-A5E8-59DFAC40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630"/>
                </a:solidFill>
                <a:latin typeface="Arial"/>
                <a:ea typeface="Arial"/>
                <a:cs typeface="Arial"/>
              </a:rPr>
              <a:t>One excluded warmup. Seven repeats for the first three completed cases; three for remaining cases after the user-requested amendment.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C191B-607E-4317-A09C-82E7E2DC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A comparison needs every declared repeat, stable signal fingerprints and independent all-point validation.</a:t>
            </a:r>
          </a:p>
        </p:txBody>
      </p:sp>
    </p:spTree>
    <p:extLst>
      <p:ext uri="{BB962C8B-B14F-4D97-AF65-F5344CB8AC3E}">
        <p14:creationId xmlns:p14="http://schemas.microsoft.com/office/powerpoint/2010/main" val="3694826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18CA1-0B45-4780-A208-42B5E138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630"/>
                </a:solidFill>
                <a:latin typeface="Arial"/>
                <a:ea typeface="Arial"/>
                <a:cs typeface="Arial"/>
              </a:rPr>
              <a:t>Signal storage and metadata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833F2-0BB0-4401-898B-5F553AF26BB9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000500"/>
                <a:gridCol w="440055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4"/>
                      </a:solidFill>
                      <a:prstDash val="solid"/>
                    </a:lnL>
                    <a:lnR w="9525">
                      <a:solidFill>
                        <a:srgbClr val="DCE4E4"/>
                      </a:solidFill>
                      <a:prstDash val="solid"/>
                    </a:lnR>
                    <a:lnT w="9525">
                      <a:solidFill>
                        <a:srgbClr val="DCE4E4"/>
                      </a:solidFill>
                      <a:prstDash val="solid"/>
                    </a:lnT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142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Representation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T w="9525">
                      <a:solidFill>
                        <a:srgbClr val="DCE4E4"/>
                      </a:solidFill>
                      <a:prstDash val="solid"/>
                    </a:lnT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142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T w="9525">
                      <a:solidFill>
                        <a:srgbClr val="DCE4E4"/>
                      </a:solidFill>
                      <a:prstDash val="solid"/>
                    </a:lnT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14263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m/z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4"/>
                      </a:solidFill>
                      <a:prstDash val="solid"/>
                    </a:lnL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Block-local linear integers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Explicit relative-error budget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Intensity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4"/>
                      </a:solidFill>
                      <a:prstDash val="solid"/>
                    </a:lnL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Log integers; reserved zero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Dynamic range; exact zeros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Signal blocks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4"/>
                      </a:solidFill>
                      <a:prstDash val="solid"/>
                    </a:lnL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≤16,384 points + Zstd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Independent decoding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Index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4"/>
                      </a:solidFill>
                      <a:prstDash val="solid"/>
                    </a:lnL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Compressed JSON directory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Locate spectra and blocks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Acquisition metadata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4"/>
                      </a:solidFill>
                      <a:prstDash val="solid"/>
                    </a:lnL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Parquet tables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Scan and precursor context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F162A-D068-4647-A23E-166C55B4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Both input readers feed the same encoder. The archive is experimental; the Python shim provides partial API compatibility.</a:t>
            </a:r>
          </a:p>
        </p:txBody>
      </p:sp>
    </p:spTree>
    <p:extLst>
      <p:ext uri="{BB962C8B-B14F-4D97-AF65-F5344CB8AC3E}">
        <p14:creationId xmlns:p14="http://schemas.microsoft.com/office/powerpoint/2010/main" val="15700367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58E09-A060-42E3-8978-05C6AAFE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630"/>
                </a:solidFill>
                <a:latin typeface="Arial"/>
                <a:ea typeface="Arial"/>
                <a:cs typeface="Arial"/>
              </a:rPr>
              <a:t>Quantization bounds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71DF3-81CB-4E49-A5F5-B1883D52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m/z: Δ = 2bεq; b = block minimum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2774D-279C-4051-80A6-2D27FAA0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630"/>
                </a:solidFill>
                <a:latin typeface="Arial"/>
                <a:ea typeface="Arial"/>
                <a:cs typeface="Arial"/>
              </a:rPr>
              <a:t>Rounding gives |x̂ − x| ≤ Δ/2 = bεq ≤ xεq, since x ≥ 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8FBEA-0014-41BD-9BA6-D2947C38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Intensity: h = 2 log(1 + εI)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BD562-D2B9-45D3-BCFC-7FA38F3C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630"/>
                </a:solidFill>
                <a:latin typeface="Arial"/>
                <a:ea typeface="Arial"/>
                <a:cs typeface="Arial"/>
              </a:rPr>
              <a:t>Log rounding gives x̂/x between 1/(1 + εI) and 1 + εI.</a:t>
            </a:r>
          </a:p>
          <a:p xmlns:a="http://schemas.openxmlformats.org/drawingml/2006/main">
            <a: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630"/>
                </a:solidFill>
                <a:latin typeface="Arial"/>
                <a:ea typeface="Arial"/>
                <a:cs typeface="Arial"/>
              </a:rPr>
              <a:t>Zero has a separate code and remains exactly zero.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C60DB-411A-47F6-BF08-D6496946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Total limits: 0.01 ppm m/z and 0.1% intensity. Reader error uses a separate margin; every accepted point is independently checked.</a:t>
            </a:r>
          </a:p>
        </p:txBody>
      </p:sp>
    </p:spTree>
    <p:extLst>
      <p:ext uri="{BB962C8B-B14F-4D97-AF65-F5344CB8AC3E}">
        <p14:creationId xmlns:p14="http://schemas.microsoft.com/office/powerpoint/2010/main" val="21252647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8F046-0EDC-474E-9B12-11E42566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630"/>
                </a:solidFill>
                <a:latin typeface="Arial"/>
                <a:ea typeface="Arial"/>
                <a:cs typeface="Arial"/>
              </a:rPr>
              <a:t>Native conversion is faster across eligible files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B70CA4A3-E9DE-4B51-A11C-AEDF44D5FD83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c259c65ca94712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AFBF2-8881-4293-B076-1EF15E6B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Ten shared eligible files shown. A 233.65 s vendor metadata stall makes Eclipse slower by the paired geometric-mean metric.</a:t>
            </a:r>
          </a:p>
        </p:txBody>
      </p:sp>
    </p:spTree>
    <p:extLst>
      <p:ext uri="{BB962C8B-B14F-4D97-AF65-F5344CB8AC3E}">
        <p14:creationId xmlns:p14="http://schemas.microsoft.com/office/powerpoint/2010/main" val="9944865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B405A-C3C1-43A3-BE58-85540C28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630"/>
                </a:solidFill>
                <a:latin typeface="Arial"/>
                <a:ea typeface="Arial"/>
                <a:cs typeface="Arial"/>
              </a:rPr>
              <a:t>Storage reduction remains with the vendor reader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CF9D1100-9EE8-47CC-8154-EB319675F800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a1cb757f0f4e21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CE014-B935-4CF3-8D12-3811A8D4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Across eligible sets: 73.14% less storage with native input; 74.43% with vendor input. Precision contracts differ.</a:t>
            </a:r>
          </a:p>
        </p:txBody>
      </p:sp>
    </p:spTree>
    <p:extLst>
      <p:ext uri="{BB962C8B-B14F-4D97-AF65-F5344CB8AC3E}">
        <p14:creationId xmlns:p14="http://schemas.microsoft.com/office/powerpoint/2010/main" val="21070252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F3F4E-B0F1-4E73-8214-B49C220E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630"/>
                </a:solidFill>
                <a:latin typeface="Arial"/>
                <a:ea typeface="Arial"/>
                <a:cs typeface="Arial"/>
              </a:rPr>
              <a:t>Native reader memory is a real tradeoff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ADB0CA4C-BA80-40B6-B3E1-D94ABB1C2050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005cab10ea4368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FE8E0-288B-41DD-A88B-EE6FDF18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Bounded signal blocks do not make the whole RAW reader and metadata pipeline constant-memory.</a:t>
            </a:r>
          </a:p>
        </p:txBody>
      </p:sp>
    </p:spTree>
    <p:extLst>
      <p:ext uri="{BB962C8B-B14F-4D97-AF65-F5344CB8AC3E}">
        <p14:creationId xmlns:p14="http://schemas.microsoft.com/office/powerpoint/2010/main" val="15212124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4F35A-7B4A-435D-917B-A1D09674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630"/>
                </a:solidFill>
                <a:latin typeface="Arial"/>
                <a:ea typeface="Arial"/>
                <a:cs typeface="Arial"/>
              </a:rPr>
              <a:t>Measured fidelity on the big Astral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28DB0-95D0-4F96-9492-6DFF8371BA72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419350"/>
                <a:gridCol w="2419350"/>
                <a:gridCol w="2419350"/>
              </a:tblGrid>
              <a:tr h="793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Absolute error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4"/>
                      </a:solidFill>
                      <a:prstDash val="solid"/>
                    </a:lnL>
                    <a:lnR w="9525">
                      <a:solidFill>
                        <a:srgbClr val="DCE4E4"/>
                      </a:solidFill>
                      <a:prstDash val="solid"/>
                    </a:lnR>
                    <a:lnT w="9525">
                      <a:solidFill>
                        <a:srgbClr val="DCE4E4"/>
                      </a:solidFill>
                      <a:prstDash val="solid"/>
                    </a:lnT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142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T w="9525">
                      <a:solidFill>
                        <a:srgbClr val="DCE4E4"/>
                      </a:solidFill>
                      <a:prstDash val="solid"/>
                    </a:lnT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142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99th percentile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T w="9525">
                      <a:solidFill>
                        <a:srgbClr val="DCE4E4"/>
                      </a:solidFill>
                      <a:prstDash val="solid"/>
                    </a:lnT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142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Maximum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T w="9525">
                      <a:solidFill>
                        <a:srgbClr val="DCE4E4"/>
                      </a:solidFill>
                      <a:prstDash val="solid"/>
                    </a:lnT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142630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m/z (ppm)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4"/>
                      </a:solidFill>
                      <a:prstDash val="solid"/>
                    </a:lnL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0.001859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≈0.007684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0.009055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Positive intensity (%)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4"/>
                      </a:solidFill>
                      <a:prstDash val="solid"/>
                    </a:lnL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0.049948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≈0.098950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0.09999990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6A0C7-A464-4B68-9F1A-5FD58EB9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1,511,811,155 points checked</a:t>
            </a:r>
          </a:p>
          <a:p xmlns:a="http://schemas.openxmlformats.org/drawingml/2006/main">
            <a:pPr>
              <a:defRPr sz="25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162,582,445 zeros preserved exactly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D373B-1A4F-482D-B4B7-FAA04C17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Whole-run intensity drift: −0.00006401%. Worst scan TIC error: 0.08622%. Downstream biological equivalence remains untested.</a:t>
            </a:r>
          </a:p>
        </p:txBody>
      </p:sp>
    </p:spTree>
    <p:extLst>
      <p:ext uri="{BB962C8B-B14F-4D97-AF65-F5344CB8AC3E}">
        <p14:creationId xmlns:p14="http://schemas.microsoft.com/office/powerpoint/2010/main" val="17727758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777D7-2D96-4868-9DDD-BD8AF512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630"/>
                </a:solidFill>
                <a:latin typeface="Arial"/>
                <a:ea typeface="Arial"/>
                <a:cs typeface="Arial"/>
              </a:rPr>
              <a:t>Queries improve after opening; startup does not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366BD-578C-4774-B9D3-AB8C24FBB14A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2628900"/>
                <a:gridCol w="2628900"/>
              </a:tblGrid>
              <a:tr h="6858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Astral workload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4"/>
                      </a:solidFill>
                      <a:prstDash val="solid"/>
                    </a:lnL>
                    <a:lnR w="9525">
                      <a:solidFill>
                        <a:srgbClr val="DCE4E4"/>
                      </a:solidFill>
                      <a:prstDash val="solid"/>
                    </a:lnR>
                    <a:lnT w="9525">
                      <a:solidFill>
                        <a:srgbClr val="DCE4E4"/>
                      </a:solidFill>
                      <a:prstDash val="solid"/>
                    </a:lnT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142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Native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T w="9525">
                      <a:solidFill>
                        <a:srgbClr val="DCE4E4"/>
                      </a:solidFill>
                      <a:prstDash val="solid"/>
                    </a:lnT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142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Official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T w="9525">
                      <a:solidFill>
                        <a:srgbClr val="DCE4E4"/>
                      </a:solidFill>
                      <a:prstDash val="solid"/>
                    </a:lnT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14263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XIC warm query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4"/>
                      </a:solidFill>
                      <a:prstDash val="solid"/>
                    </a:lnL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1.068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1.234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XIC open + first query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4"/>
                      </a:solidFill>
                      <a:prstDash val="solid"/>
                    </a:lnL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5.195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3.243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MS2 warm query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4"/>
                      </a:solidFill>
                      <a:prstDash val="solid"/>
                    </a:lnL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4.556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7.053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MS2 open + first query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4"/>
                      </a:solidFill>
                      <a:prstDash val="solid"/>
                    </a:lnL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8.693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8.999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1D93A-CFD7-463E-8042-A2E4E641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Warm MS2: 1.55× faster; 3.87 versus 4.75 GiB peak process RSS.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735BB-49E7-495E-BE0F-DB2599D3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Opening: approximately 4.12 s native versus 1.84 s official. Two workloads; no general SQL performance claim.</a:t>
            </a:r>
          </a:p>
        </p:txBody>
      </p:sp>
    </p:spTree>
    <p:extLst>
      <p:ext uri="{BB962C8B-B14F-4D97-AF65-F5344CB8AC3E}">
        <p14:creationId xmlns:p14="http://schemas.microsoft.com/office/powerpoint/2010/main" val="18886242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38F60-DA71-4488-A36F-DED03B9D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630"/>
                </a:solidFill>
                <a:latin typeface="Arial"/>
                <a:ea typeface="Arial"/>
                <a:cs typeface="Arial"/>
              </a:rPr>
              <a:t>Failures stay in the evidence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91E4C-F2B2-41D4-812A-0F4157589EE8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143500"/>
                <a:gridCol w="3352800"/>
              </a:tblGrid>
              <a:tr h="8810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4"/>
                      </a:solidFill>
                      <a:prstDash val="solid"/>
                    </a:lnL>
                    <a:lnR w="9525">
                      <a:solidFill>
                        <a:srgbClr val="DCE4E4"/>
                      </a:solidFill>
                      <a:prstDash val="solid"/>
                    </a:lnR>
                    <a:lnT w="9525">
                      <a:solidFill>
                        <a:srgbClr val="DCE4E4"/>
                      </a:solidFill>
                      <a:prstDash val="solid"/>
                    </a:lnT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142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Observed result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T w="9525">
                      <a:solidFill>
                        <a:srgbClr val="DCE4E4"/>
                      </a:solidFill>
                      <a:prstDash val="solid"/>
                    </a:lnT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1426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T w="9525">
                      <a:solidFill>
                        <a:srgbClr val="DCE4E4"/>
                      </a:solidFill>
                      <a:prstDash val="solid"/>
                    </a:lnT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142630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Astral30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4"/>
                      </a:solidFill>
                      <a:prstDash val="solid"/>
                    </a:lnL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Custom signal encoded; all</a:t>
                      </a:r>
                    </a:p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modes failed metadata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No complete-archive ratio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Exploris vendor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4"/>
                      </a:solidFill>
                      <a:prstDash val="solid"/>
                    </a:lnL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Retained output validated;</a:t>
                      </a:r>
                    </a:p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third repeat timed out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Vendor ratio excluded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10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Big Astral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4"/>
                      </a:solidFill>
                      <a:prstDash val="solid"/>
                    </a:lnL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Native validated; vendor and</a:t>
                      </a:r>
                    </a:p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official warmups timed out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630"/>
                          </a:solidFill>
                          <a:latin typeface="Arial"/>
                          <a:ea typeface="Arial"/>
                          <a:cs typeface="Arial"/>
                        </a:rPr>
                        <a:t>Native-only timing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4"/>
                      </a:solidFill>
                      <a:prstDash val="solid"/>
                    </a:lnR>
                    <a:lnB w="9525">
                      <a:solidFill>
                        <a:srgbClr val="DCE4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E9EF3-559B-40D8-B7CC-32EACB62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Big Astral native median: 268.10 s on the primary node. The earlier 98.63 s diagnostic is not pooled into campaign measurements.</a:t>
            </a:r>
          </a:p>
        </p:txBody>
      </p:sp>
    </p:spTree>
    <p:extLst>
      <p:ext uri="{BB962C8B-B14F-4D97-AF65-F5344CB8AC3E}">
        <p14:creationId xmlns:p14="http://schemas.microsoft.com/office/powerpoint/2010/main" val="2176975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50849-2DCD-47E1-B218-CB5870DA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630"/>
                </a:solidFill>
                <a:latin typeface="Arial"/>
                <a:ea typeface="Arial"/>
                <a:cs typeface="Arial"/>
              </a:rPr>
              <a:t>What this experiment establishes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96E50-47D2-4D1B-A5EF-7D452BE1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defPPr>
            <a:lvl1pPr>
              <a:defRPr sz="28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1pPr>
            <a:lvl2pPr>
              <a:defRPr sz="28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2pPr>
            <a:lvl3pPr>
              <a:defRPr sz="28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3pPr>
            <a:lvl4pPr>
              <a:defRPr sz="28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4pPr>
            <a:lvl5pPr>
              <a:defRPr sz="28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5pPr>
            <a:lvl6pPr>
              <a:defRPr sz="28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6pPr>
            <a:lvl7pPr>
              <a:defRPr sz="28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7pPr>
            <a:lvl8pPr>
              <a:defRPr sz="28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8pPr>
            <a:lvl9pPr>
              <a:defRPr sz="28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07F7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7F7B"/>
                </a:solidFill>
                <a:latin typeface="Arial"/>
                <a:ea typeface="Arial"/>
                <a:cs typeface="Arial"/>
              </a:rPr>
              <a:t>Compact storage with explicit error bounds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1A877-9C20-4E91-886B-D70ED203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630"/>
                </a:solidFill>
                <a:latin typeface="Arial"/>
                <a:ea typeface="Arial"/>
                <a:cs typeface="Arial"/>
              </a:rPr>
              <a:t>A fast native conversion path and a vendor-backed alternative</a:t>
            </a:r>
          </a:p>
          <a:p xmlns:a="http://schemas.openxmlformats.org/drawingml/2006/main">
            <a:pPr>
              <a:defRPr sz="2325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630"/>
                </a:solidFill>
                <a:latin typeface="Arial"/>
                <a:ea typeface="Arial"/>
                <a:cs typeface="Arial"/>
              </a:rPr>
              <a:t>with a smaller speed advantage.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B9A12-ED5D-4803-A3A5-3CA9C3CD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630"/>
                </a:solidFill>
                <a:latin typeface="Arial"/>
                <a:ea typeface="Arial"/>
                <a:cs typeface="Arial"/>
              </a:rPr>
              <a:t>Before a broader release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F7B85-290D-40B3-96C4-384ECEF2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810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630"/>
                </a:solidFill>
                <a:latin typeface="Arial"/>
                <a:ea typeface="Arial"/>
                <a:cs typeface="Arial"/>
              </a:rPr>
              <a:t>Resolve instrument metadata coverage and stalls. Reduce native</a:t>
            </a:r>
          </a:p>
          <a:p xmlns:a="http://schemas.openxmlformats.org/drawingml/2006/main">
            <a: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630"/>
                </a:solidFill>
                <a:latin typeface="Arial"/>
                <a:ea typeface="Arial"/>
                <a:cs typeface="Arial"/>
              </a:rPr>
              <a:t>reader memory and eager index parsing. Test downstream</a:t>
            </a:r>
          </a:p>
          <a:p xmlns:a="http://schemas.openxmlformats.org/drawingml/2006/main">
            <a:pPr>
              <a:defRPr sz="2250" b="0">
                <a:solidFill>
                  <a:srgbClr val="1426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630"/>
                </a:solidFill>
                <a:latin typeface="Arial"/>
                <a:ea typeface="Arial"/>
                <a:cs typeface="Arial"/>
              </a:rPr>
              <a:t>identification and quantification.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65FBE-1302-4759-A6A7-6AE60761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36B"/>
                </a:solidFill>
                <a:latin typeface="Arial"/>
                <a:ea typeface="Arial"/>
                <a:cs typeface="Arial"/>
              </a:rPr>
              <a:t>Research software: preserve original RAW files. Custom signal storage is not official mzPeak format compatibility.</a:t>
            </a:r>
          </a:p>
        </p:txBody>
      </p:sp>
    </p:spTree>
    <p:extLst>
      <p:ext uri="{BB962C8B-B14F-4D97-AF65-F5344CB8AC3E}">
        <p14:creationId xmlns:p14="http://schemas.microsoft.com/office/powerpoint/2010/main" val="714864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2026-10-21T13:23:39.9930000Z</dcterms:created>
  <dcterms:modified xsi:type="dcterms:W3CDTF">2026-10-21T13:23:39.9930000Z</dcterms:modified>
</coreProperties>
</file>